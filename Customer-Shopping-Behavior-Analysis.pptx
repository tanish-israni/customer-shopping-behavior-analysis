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SemiBold"/>
      <p:regular r:id="rId201316"/>
    </p:embeddedFont>
    <p:embeddedFont>
      <p:font typeface="Alexandria Bold"/>
      <p:regular r:id="rId201317"/>
    </p:embeddedFont>
    <p:embeddedFont>
      <p:font typeface="Alexandria Black"/>
      <p:regular r:id="rId201318"/>
    </p:embeddedFont>
    <p:embeddedFont>
      <p:font typeface="Manrope"/>
      <p:regular r:id="rId201319"/>
    </p:embeddedFont>
    <p:embeddedFont>
      <p:font typeface="Manrope Medium"/>
      <p:regular r:id="rId201320"/>
    </p:embeddedFont>
    <p:embeddedFont>
      <p:font typeface="Manrope SemiBold"/>
      <p:regular r:id="rId201321"/>
    </p:embeddedFont>
    <p:embeddedFont>
      <p:font typeface="Manrope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Data Analytics Project — From Raw Transactions to Business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Scope: 3,900 Transactions Analyzed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Scale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transactions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18 features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demographics, purchase details, and behavioral metrics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Sources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profiles, transactional records, and behavioral metrics combined into a single analytical dataset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 missing values in Review Rating — resolved via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category-based median imputation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Preparation &amp; Feature Engineering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2820"/>
            <a:ext cx="6943551" cy="3934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24747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957244" y="1469330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6" name="Text 3"/>
          <p:cNvSpPr/>
          <p:nvPr/>
        </p:nvSpPr>
        <p:spPr>
          <a:xfrm>
            <a:off x="7957244" y="157827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(Pandas)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57244" y="1905992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Loaded, cleaned, and standardized all 3,900 records for downstream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7244" y="2515394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7244" y="2723158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0" name="Text 7"/>
          <p:cNvSpPr/>
          <p:nvPr/>
        </p:nvSpPr>
        <p:spPr>
          <a:xfrm>
            <a:off x="7957244" y="2846189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7244" y="3173909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age group bins and purchase frequency days from raw transactional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7244" y="378331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7244" y="3976886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4" name="Text 11"/>
          <p:cNvSpPr/>
          <p:nvPr/>
        </p:nvSpPr>
        <p:spPr>
          <a:xfrm>
            <a:off x="7957244" y="411410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57244" y="4441825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and removed redundant columns (promo_code_used) to avoid analytical noise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7244" y="505122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11" kern="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7244" y="5230713"/>
            <a:ext cx="3579227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8" name="Text 15"/>
          <p:cNvSpPr/>
          <p:nvPr/>
        </p:nvSpPr>
        <p:spPr>
          <a:xfrm>
            <a:off x="7957244" y="538202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MySQL Integration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57244" y="5709741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 the clean dataset into MySQL to enable structured SQL-based business querying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Analysis: 10 Business Questions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Segmentation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Broken down by gender, age group, and subscription status to reveal hidden value drivers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Behavior Patterns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 usage, preferred shipping methods, and repeat purchase frequency across segments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 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Top-rated items and category-level sales trends to guide inventory and pricing strategy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Segmentation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Classified customers as New, Returning, or Loyal based on purchase history patterns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1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Finding: Male Customers Drive 2x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6917"/>
            <a:ext cx="6903269" cy="4358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2251" y="1757958"/>
            <a:ext cx="1686677" cy="287139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2"/>
          <p:cNvSpPr/>
          <p:nvPr/>
        </p:nvSpPr>
        <p:spPr>
          <a:xfrm>
            <a:off x="8145656" y="1814612"/>
            <a:ext cx="20694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32251" y="212070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 Striking Disparity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604988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versus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female customers — a gap of more than 2x in total revenue contribution.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4027289"/>
            <a:ext cx="3504219" cy="1946672"/>
          </a:xfrm>
          <a:prstGeom prst="roundRect">
            <a:avLst>
              <a:gd name="adj" fmla="val 14565"/>
            </a:avLst>
          </a:prstGeom>
          <a:solidFill>
            <a:srgbClr val="CDEF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320381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6499" y="4244578"/>
            <a:ext cx="27009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gender-based revenue disparity signals a significant untapped marketing opportunity within the female customer segment.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68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Segmentation: 80% Loyal Base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609824"/>
            <a:ext cx="2242784" cy="282674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773093" y="1665585"/>
            <a:ext cx="262913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SEGMENTATION BREAKDOWN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965722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Loyalty Dominates the Mix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439591"/>
            <a:ext cx="3509081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vast majority of the customer base are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Loyal customers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those with 10+ purchases. Returning and New customers represent a much smaller share.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080768"/>
            <a:ext cx="3509081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Loyal: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3,116 customers (80%)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Returning: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701 customers (18%)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New: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83 customers (2%)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59586"/>
            <a:ext cx="350908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Opportunity: Strengthen loyalty programs to retain and grow this dominant customer base.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0721" y="1677095"/>
            <a:ext cx="6905849" cy="4359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Subscription Paradox: Volume vs. Value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7049195"/>
            <a:ext cx="10868745" cy="604341"/>
          </a:xfrm>
          <a:prstGeom prst="roundRect">
            <a:avLst>
              <a:gd name="adj" fmla="val 23458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7055545"/>
            <a:ext cx="3618616" cy="591641"/>
          </a:xfrm>
          <a:custGeom>
            <a:avLst/>
            <a:gdLst/>
            <a:ahLst/>
            <a:cxnLst/>
            <a:rect l="l" t="t" r="r" b="b"/>
            <a:pathLst>
              <a:path w="3618616" h="591641">
                <a:moveTo>
                  <a:pt x="118137" y="0"/>
                </a:moveTo>
                <a:lnTo>
                  <a:pt x="3618616" y="0"/>
                </a:lnTo>
                <a:lnTo>
                  <a:pt x="3618616" y="591641"/>
                </a:lnTo>
                <a:lnTo>
                  <a:pt x="118137" y="591641"/>
                </a:lnTo>
                <a:arcTo hR="118140" wR="118137" stAng="5400000" swAng="5400000"/>
                <a:lnTo>
                  <a:pt x="0" y="118140"/>
                </a:lnTo>
                <a:arcTo hR="118140" wR="118137" stAng="10800000" swAng="5400000"/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6" name="Text 3"/>
          <p:cNvSpPr/>
          <p:nvPr/>
        </p:nvSpPr>
        <p:spPr>
          <a:xfrm>
            <a:off x="762279" y="7150001"/>
            <a:ext cx="34297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2279" y="7325916"/>
            <a:ext cx="342970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2,847 customers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$170,436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that's 73% of total revenue from those without a subscription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286440" y="7055545"/>
            <a:ext cx="3618715" cy="591641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440" y="7055545"/>
            <a:ext cx="12700" cy="591641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0" name="Text 7"/>
          <p:cNvSpPr/>
          <p:nvPr/>
        </p:nvSpPr>
        <p:spPr>
          <a:xfrm>
            <a:off x="4380894" y="7150001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0894" y="7325916"/>
            <a:ext cx="342980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1,053 customers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$62,645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only 27% of revenue despite the formal subscription relationship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905155" y="7055545"/>
            <a:ext cx="3618715" cy="591641"/>
          </a:xfrm>
          <a:custGeom>
            <a:avLst/>
            <a:gdLst/>
            <a:ahLst/>
            <a:cxnLst/>
            <a:rect l="l" t="t" r="r" b="b"/>
            <a:pathLst>
              <a:path w="3618715" h="591641">
                <a:moveTo>
                  <a:pt x="0" y="0"/>
                </a:moveTo>
                <a:lnTo>
                  <a:pt x="3500578" y="0"/>
                </a:lnTo>
                <a:arcTo hR="118140" wR="118137" stAng="16200000" swAng="5400000"/>
                <a:lnTo>
                  <a:pt x="3618715" y="473502"/>
                </a:lnTo>
                <a:arcTo hR="118140" wR="118137" stAng="0" swAng="5400000"/>
                <a:lnTo>
                  <a:pt x="0" y="591641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905155" y="7055545"/>
            <a:ext cx="12700" cy="591641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4" name="Text 11"/>
          <p:cNvSpPr/>
          <p:nvPr/>
        </p:nvSpPr>
        <p:spPr>
          <a:xfrm>
            <a:off x="7999609" y="7150001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99609" y="7325916"/>
            <a:ext cx="342980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targeted subscription incentives to convert high-volume non-subscribers and close the revenue gap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956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 Insights: Top Performers &amp; Discount Dependency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06960"/>
            <a:ext cx="1832524" cy="287139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563614"/>
            <a:ext cx="221530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RATED PRODUCTS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8697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Favorites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3377605"/>
            <a:ext cx="25073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359201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Gloves — 3.86 ★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3357875" y="3377605"/>
            <a:ext cx="25073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2282" y="359201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Jacket — 3.84 ★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61475" y="4290715"/>
            <a:ext cx="5203794" cy="724098"/>
          </a:xfrm>
          <a:prstGeom prst="roundRect">
            <a:avLst>
              <a:gd name="adj" fmla="val 39156"/>
            </a:avLst>
          </a:prstGeom>
          <a:solidFill>
            <a:srgbClr val="FFFFFF"/>
          </a:solidFill>
          <a:ln w="25399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881" y="4505127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Shirt — 3.82 ★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332776" y="2506960"/>
            <a:ext cx="2415222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AAE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180" y="2563614"/>
            <a:ext cx="27979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 DEPENDENCY ALERT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32776" y="28697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High-Discount Items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32776" y="335399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products show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47–50% discount rate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Hat, Sneakers, Coat, Sweater, and Pants are heavily reliant on promotions to drive sales volume.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2776" y="4473873"/>
            <a:ext cx="5203794" cy="1341834"/>
          </a:xfrm>
          <a:prstGeom prst="roundRect">
            <a:avLst>
              <a:gd name="adj" fmla="val 21130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766965"/>
            <a:ext cx="236234" cy="189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47024" y="4691162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pricing strategy for discount-heavy products to protect margin without sacrificing volume.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09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spc="-3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Age Group Revenue Distribution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7371"/>
            <a:ext cx="6908330" cy="43613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22826" y="1622822"/>
            <a:ext cx="1870921" cy="27811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2"/>
          <p:cNvSpPr/>
          <p:nvPr/>
        </p:nvSpPr>
        <p:spPr>
          <a:xfrm>
            <a:off x="8132658" y="1677690"/>
            <a:ext cx="2260841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BY AGE GROUP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22826" y="1971873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Young Adults Lead the Way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2826" y="2435225"/>
            <a:ext cx="351364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are the highest-value demographic, generating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$62,143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revenue — outpacing all other age segments.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2826" y="3748584"/>
            <a:ext cx="3513645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$62,143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Middle-Aged: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$59,197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Adults: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$55,978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Seniors: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$55,763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22826" y="5247977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Insight: Prioritize Young Adult-targeted campaigns while maintaining broad engagement across all cohorts.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647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spc="-2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Power BI Dashboard: Interactive Insights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24037"/>
            <a:ext cx="7311544" cy="39915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075535"/>
            <a:ext cx="767835" cy="152499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2"/>
          <p:cNvSpPr/>
          <p:nvPr/>
        </p:nvSpPr>
        <p:spPr>
          <a:xfrm>
            <a:off x="721699" y="5105598"/>
            <a:ext cx="1256971" cy="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KPIS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61475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3.9K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61475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1475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profiles analyzed in the dataset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306581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$59.76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306581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Avg. Purchase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06581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transaction value across all customers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951688" y="5338167"/>
            <a:ext cx="3578433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3.75★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51688" y="5759748"/>
            <a:ext cx="3578433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Avg. Rating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51688" y="5948561"/>
            <a:ext cx="357843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product rating across all reviews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1475" y="6131421"/>
            <a:ext cx="114783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Power BI dashboard enables multi-dimensional exploration across subscription status, product category, age group, and more — delivering self-service insights for business stakeholders.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2026-09-04T15:47:14Z</dcterms:created>
  <dcterms:modified xsi:type="dcterms:W3CDTF">2026-09-04T15:47:14Z</dcterms:modified>
</cp:coreProperties>
</file>