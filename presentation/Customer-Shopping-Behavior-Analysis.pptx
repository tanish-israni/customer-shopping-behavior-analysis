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Medium" panose="020B0604020202020204" charset="-78"/>
      <p:regular r:id="rId13"/>
    </p:embeddedFont>
    <p:embeddedFont>
      <p:font typeface="Manrope" panose="020B0604020202020204" charset="0"/>
      <p:regular r:id="rId14"/>
    </p:embeddedFont>
    <p:embeddedFont>
      <p:font typeface="Manrop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7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Data Analytics Project — From Raw Transactions to Business Insights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95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Scope: 3,900 Transactions Analyzed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60216"/>
            <a:ext cx="3053877" cy="2009080"/>
          </a:xfrm>
          <a:prstGeom prst="roundRect">
            <a:avLst>
              <a:gd name="adj" fmla="val 14112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55557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 Scale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964259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3,900 transactions across </a:t>
            </a:r>
            <a:r>
              <a:rPr lang="en-US" sz="14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18 features</a:t>
            </a: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demographics, purchase details, and behavioral metrics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360216"/>
            <a:ext cx="3053976" cy="2009080"/>
          </a:xfrm>
          <a:prstGeom prst="roundRect">
            <a:avLst>
              <a:gd name="adj" fmla="val 14112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55557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Sources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964259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profiles, transactional records, and behavioral metrics combined into a single analytical dataset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558308"/>
            <a:ext cx="6296860" cy="1404243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7536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Quality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16235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37 missing values in Review Rating — resolved via </a:t>
            </a:r>
            <a:r>
              <a:rPr lang="en-US" sz="14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category-based median imputation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46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Preparation &amp; Feature Engineering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62820"/>
            <a:ext cx="6943551" cy="3934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7244" y="1247477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11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957244" y="1469330"/>
            <a:ext cx="3579227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6" name="Text 3"/>
          <p:cNvSpPr/>
          <p:nvPr/>
        </p:nvSpPr>
        <p:spPr>
          <a:xfrm>
            <a:off x="7957244" y="1578273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 (Pandas)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957244" y="1905992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Loaded, cleaned, and standardized all 3,900 records for downstream analysis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7244" y="2515394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11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7244" y="2723158"/>
            <a:ext cx="3579227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0" name="Text 7"/>
          <p:cNvSpPr/>
          <p:nvPr/>
        </p:nvSpPr>
        <p:spPr>
          <a:xfrm>
            <a:off x="7957244" y="2846189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57244" y="3173909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 age group bins and purchase frequency days from raw transactional 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7244" y="378331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11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57244" y="3976886"/>
            <a:ext cx="3579227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4" name="Text 11"/>
          <p:cNvSpPr/>
          <p:nvPr/>
        </p:nvSpPr>
        <p:spPr>
          <a:xfrm>
            <a:off x="7957244" y="4114105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Validation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957244" y="4441825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Identified and removed redundant columns (promo_code_used) to avoid analytical noise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57244" y="5051227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11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57244" y="5230713"/>
            <a:ext cx="3579227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8" name="Text 15"/>
          <p:cNvSpPr/>
          <p:nvPr/>
        </p:nvSpPr>
        <p:spPr>
          <a:xfrm>
            <a:off x="7957244" y="5382022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MySQL Integration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957244" y="5709741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Loaded the clean dataset into MySQL to enable structured SQL-based business querying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20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SQL Analysis: 10 Business Questions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107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71075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Revenue Segmentation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119438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Broken down by gender, age group, and subscription status to reveal hidden value drivers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7107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71075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Behavior Patterns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3119438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Discount usage, preferred shipping methods, and repeat purchase frequency across segments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410229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Product Performance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4510980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Top-rated items and category-level sales trends to guide inventory and pricing strategy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410229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 Segmentation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4510980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Classified customers as New, Returning, or Loyal based on purchase history patterns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01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Finding: Male Customers Drive 2x Revenue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86917"/>
            <a:ext cx="6903269" cy="4358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32251" y="1757958"/>
            <a:ext cx="1686677" cy="287139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5" name="Text 2"/>
          <p:cNvSpPr/>
          <p:nvPr/>
        </p:nvSpPr>
        <p:spPr>
          <a:xfrm>
            <a:off x="8145656" y="1814612"/>
            <a:ext cx="20694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BY GENDER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032251" y="2120702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 Striking Disparity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2604988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Male customers generated </a:t>
            </a: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$157,890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versus </a:t>
            </a: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$75,191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from female customers — a gap of more than 2x in total revenue contribution.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32251" y="4027289"/>
            <a:ext cx="3504219" cy="1946672"/>
          </a:xfrm>
          <a:prstGeom prst="roundRect">
            <a:avLst>
              <a:gd name="adj" fmla="val 14565"/>
            </a:avLst>
          </a:prstGeom>
          <a:solidFill>
            <a:srgbClr val="CDEFF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258" y="4320381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46499" y="4244578"/>
            <a:ext cx="27009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gender-based revenue disparity signals a significant untapped marketing opportunity within the female customer segment.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688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 Segmentation: 80% Loyal Base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609824"/>
            <a:ext cx="2242784" cy="282674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773093" y="1665585"/>
            <a:ext cx="262913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SEGMENTATION BREAKDOWN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1965722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1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Loyalty Dominates the Mix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2439591"/>
            <a:ext cx="3509081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vast majority of the customer base are </a:t>
            </a: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Loyal customers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those with 10+ purchases. Returning and New customers represent a much smaller share.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080768"/>
            <a:ext cx="3509081" cy="10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Loyal: </a:t>
            </a: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3,116 customers (80%)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Returning: </a:t>
            </a: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701 customers (18%)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New: </a:t>
            </a: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83 customers (2%)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5259586"/>
            <a:ext cx="350908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Opportunity: Strengthen loyalty programs to retain and grow this dominant customer base.</a:t>
            </a:r>
            <a:endParaRPr lang="en-US" sz="14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721" y="1677095"/>
            <a:ext cx="6905849" cy="43597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Subscription Paradox: Volume vs. Value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09538"/>
            <a:ext cx="10868745" cy="60865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7049195"/>
            <a:ext cx="10868745" cy="604341"/>
          </a:xfrm>
          <a:prstGeom prst="roundRect">
            <a:avLst>
              <a:gd name="adj" fmla="val 23458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825" y="7055545"/>
            <a:ext cx="3618616" cy="591641"/>
          </a:xfrm>
          <a:custGeom>
            <a:avLst/>
            <a:gdLst/>
            <a:ahLst/>
            <a:cxnLst/>
            <a:rect l="l" t="t" r="r" b="b"/>
            <a:pathLst>
              <a:path w="3618616" h="591641">
                <a:moveTo>
                  <a:pt x="118137" y="0"/>
                </a:moveTo>
                <a:lnTo>
                  <a:pt x="3618616" y="0"/>
                </a:lnTo>
                <a:lnTo>
                  <a:pt x="3618616" y="591641"/>
                </a:lnTo>
                <a:lnTo>
                  <a:pt x="118137" y="591641"/>
                </a:lnTo>
                <a:arcTo wR="118137" hR="118140" stAng="5400000" swAng="5400000"/>
                <a:lnTo>
                  <a:pt x="0" y="118140"/>
                </a:lnTo>
                <a:arcTo wR="118137" hR="118140" stAng="10800000" swAng="5400000"/>
                <a:close/>
              </a:path>
            </a:pathLst>
          </a:custGeom>
          <a:solidFill>
            <a:srgbClr val="E6F7FF"/>
          </a:solidFill>
          <a:ln/>
        </p:spPr>
      </p:sp>
      <p:sp>
        <p:nvSpPr>
          <p:cNvPr id="6" name="Text 3"/>
          <p:cNvSpPr/>
          <p:nvPr/>
        </p:nvSpPr>
        <p:spPr>
          <a:xfrm>
            <a:off x="762279" y="7150001"/>
            <a:ext cx="342970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Non-Subscribers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2279" y="7325916"/>
            <a:ext cx="342970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2,847 customers</a:t>
            </a: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generating </a:t>
            </a: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$170,436</a:t>
            </a: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that's 73% of total revenue from those without a subscription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286440" y="7055545"/>
            <a:ext cx="3618715" cy="591641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9" name="Shape 6"/>
          <p:cNvSpPr/>
          <p:nvPr/>
        </p:nvSpPr>
        <p:spPr>
          <a:xfrm>
            <a:off x="4286440" y="7055545"/>
            <a:ext cx="12700" cy="591641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10" name="Text 7"/>
          <p:cNvSpPr/>
          <p:nvPr/>
        </p:nvSpPr>
        <p:spPr>
          <a:xfrm>
            <a:off x="4380894" y="7150001"/>
            <a:ext cx="342980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Subscribers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80894" y="7325916"/>
            <a:ext cx="342980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1,053 customers</a:t>
            </a: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generating </a:t>
            </a: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$62,645</a:t>
            </a: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only 27% of revenue despite the formal subscription relationship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7905155" y="7055545"/>
            <a:ext cx="3618715" cy="591641"/>
          </a:xfrm>
          <a:custGeom>
            <a:avLst/>
            <a:gdLst/>
            <a:ahLst/>
            <a:cxnLst/>
            <a:rect l="l" t="t" r="r" b="b"/>
            <a:pathLst>
              <a:path w="3618715" h="591641">
                <a:moveTo>
                  <a:pt x="0" y="0"/>
                </a:moveTo>
                <a:lnTo>
                  <a:pt x="3500578" y="0"/>
                </a:lnTo>
                <a:arcTo wR="118137" hR="118140" stAng="16200000" swAng="5400000"/>
                <a:lnTo>
                  <a:pt x="3618715" y="473502"/>
                </a:lnTo>
                <a:arcTo wR="118137" hR="118140" stAng="0" swAng="5400000"/>
                <a:lnTo>
                  <a:pt x="0" y="591641"/>
                </a:lnTo>
                <a:lnTo>
                  <a:pt x="0" y="0"/>
                </a:lnTo>
                <a:close/>
              </a:path>
            </a:pathLst>
          </a:custGeom>
          <a:solidFill>
            <a:srgbClr val="E6F7FF"/>
          </a:solidFill>
          <a:ln/>
        </p:spPr>
      </p:sp>
      <p:sp>
        <p:nvSpPr>
          <p:cNvPr id="13" name="Shape 10"/>
          <p:cNvSpPr/>
          <p:nvPr/>
        </p:nvSpPr>
        <p:spPr>
          <a:xfrm>
            <a:off x="7905155" y="7055545"/>
            <a:ext cx="12700" cy="591641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14" name="Text 11"/>
          <p:cNvSpPr/>
          <p:nvPr/>
        </p:nvSpPr>
        <p:spPr>
          <a:xfrm>
            <a:off x="7999609" y="7150001"/>
            <a:ext cx="342980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Strategic Action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99609" y="7325916"/>
            <a:ext cx="342980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targeted subscription incentives to convert high-volume non-subscribers and close the revenue gap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956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Product Insights: Top Performers &amp; Discount Dependency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06960"/>
            <a:ext cx="1832524" cy="287139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2563614"/>
            <a:ext cx="221530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RATED PRODUCTS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86970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 Favorites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3377605"/>
            <a:ext cx="2507394" cy="724098"/>
          </a:xfrm>
          <a:prstGeom prst="roundRect">
            <a:avLst>
              <a:gd name="adj" fmla="val 39156"/>
            </a:avLst>
          </a:prstGeom>
          <a:solidFill>
            <a:srgbClr val="FFFFFF"/>
          </a:solidFill>
          <a:ln w="25399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5881" y="3592016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Gloves — 3.86 ★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3357875" y="3377605"/>
            <a:ext cx="2507394" cy="724098"/>
          </a:xfrm>
          <a:prstGeom prst="roundRect">
            <a:avLst>
              <a:gd name="adj" fmla="val 39156"/>
            </a:avLst>
          </a:prstGeom>
          <a:solidFill>
            <a:srgbClr val="FFFFFF"/>
          </a:solidFill>
          <a:ln w="25399">
            <a:solidFill>
              <a:srgbClr val="B3D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2282" y="3592016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Jacket — 3.84 ★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61475" y="4290715"/>
            <a:ext cx="5203794" cy="724098"/>
          </a:xfrm>
          <a:prstGeom prst="roundRect">
            <a:avLst>
              <a:gd name="adj" fmla="val 39156"/>
            </a:avLst>
          </a:prstGeom>
          <a:solidFill>
            <a:srgbClr val="FFFFFF"/>
          </a:solidFill>
          <a:ln w="25399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5881" y="4505127"/>
            <a:ext cx="47749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Shirt — 3.82 ★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332776" y="2506960"/>
            <a:ext cx="2415222" cy="28713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AAE4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180" y="2563614"/>
            <a:ext cx="279799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DISCOUNT DEPENDENCY ALERT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32776" y="286970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High-Discount Items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32776" y="3353991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products show a </a:t>
            </a: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47–50% discount rate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Hat, Sneakers, Coat, Sweater, and Pants are heavily reliant on promotions to drive sales volume.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32776" y="4473873"/>
            <a:ext cx="5203794" cy="1341834"/>
          </a:xfrm>
          <a:prstGeom prst="roundRect">
            <a:avLst>
              <a:gd name="adj" fmla="val 21130"/>
            </a:avLst>
          </a:prstGeom>
          <a:solidFill>
            <a:srgbClr val="FCF2B5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4766965"/>
            <a:ext cx="236234" cy="1890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47024" y="4691162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 pricing strategy for discount-heavy products to protect margin without sacrificing volume.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093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3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Age Group Revenue Distribution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67371"/>
            <a:ext cx="6908330" cy="43613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22826" y="1622822"/>
            <a:ext cx="1870921" cy="278110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5" name="Text 2"/>
          <p:cNvSpPr/>
          <p:nvPr/>
        </p:nvSpPr>
        <p:spPr>
          <a:xfrm>
            <a:off x="8132658" y="1677690"/>
            <a:ext cx="2260841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BY AGE GROUP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022826" y="1971873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1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Young Adults Lead the Way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22826" y="2435225"/>
            <a:ext cx="3513645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Young Adults are the highest-value demographic, generating </a:t>
            </a: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$62,143</a:t>
            </a: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revenue — outpacing all other age segments.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22826" y="3748584"/>
            <a:ext cx="3513645" cy="133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Young Adults: </a:t>
            </a: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$62,143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Middle-Aged: </a:t>
            </a: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$59,197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Adults: </a:t>
            </a: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$55,978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Seniors: </a:t>
            </a: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$55,763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22826" y="5247977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Insight: Prioritize Young Adult-targeted campaigns while maintaining broad engagement across all cohorts.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647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kern="0" spc="-2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Power BI Dashboard: Interactive Insights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1001813"/>
            <a:ext cx="10028717" cy="4196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1699" y="5105598"/>
            <a:ext cx="1256971" cy="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661475" y="5338167"/>
            <a:ext cx="3578433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kern="0" spc="-2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3.9K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61475" y="5759748"/>
            <a:ext cx="3578433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1475" y="5948561"/>
            <a:ext cx="3578433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profiles analyzed in the dataset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306581" y="5338167"/>
            <a:ext cx="3578433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kern="0" spc="-2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$59.76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306581" y="5759748"/>
            <a:ext cx="3578433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Avg. Purchase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306581" y="5948561"/>
            <a:ext cx="3578433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transaction value across all customers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951688" y="5338167"/>
            <a:ext cx="3578433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kern="0" spc="-2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3.75★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951688" y="5759748"/>
            <a:ext cx="3578433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Avg. Rating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951688" y="5948561"/>
            <a:ext cx="3578433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product rating across all reviews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61475" y="6131421"/>
            <a:ext cx="1147833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Power BI dashboard enables multi-dimensional exploration across subscription status, product category, age group, and more — delivering self-service insights for business stakeholders.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601</Words>
  <Application>Microsoft Office PowerPoint</Application>
  <PresentationFormat>Widescreen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Manrope Bold</vt:lpstr>
      <vt:lpstr>Alexandria Medium</vt:lpstr>
      <vt:lpstr>Manrope</vt:lpstr>
      <vt:lpstr>Alexandria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Tanish Israni</cp:lastModifiedBy>
  <cp:revision>2</cp:revision>
  <dcterms:created xsi:type="dcterms:W3CDTF">2026-09-04T15:47:14Z</dcterms:created>
  <dcterms:modified xsi:type="dcterms:W3CDTF">2026-09-04T18:39:56Z</dcterms:modified>
</cp:coreProperties>
</file>